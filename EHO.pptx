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oca Two" charset="1" panose="00000500000000000000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37201" y="1028700"/>
            <a:ext cx="5399760" cy="539976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6539" y="6095521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016439" y="2606295"/>
            <a:ext cx="1239406" cy="12394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441302">
            <a:off x="3134900" y="6242220"/>
            <a:ext cx="7315200" cy="1210333"/>
          </a:xfrm>
          <a:custGeom>
            <a:avLst/>
            <a:gdLst/>
            <a:ahLst/>
            <a:cxnLst/>
            <a:rect r="r" b="b" t="t" l="l"/>
            <a:pathLst>
              <a:path h="1210333" w="7315200">
                <a:moveTo>
                  <a:pt x="0" y="0"/>
                </a:moveTo>
                <a:lnTo>
                  <a:pt x="7315200" y="0"/>
                </a:lnTo>
                <a:lnTo>
                  <a:pt x="7315200" y="1210333"/>
                </a:lnTo>
                <a:lnTo>
                  <a:pt x="0" y="12103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918295" y="6776881"/>
            <a:ext cx="645141" cy="64514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93341" y="7915810"/>
            <a:ext cx="404385" cy="40438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3505781"/>
            <a:ext cx="8965648" cy="21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6"/>
              </a:lnSpc>
              <a:spcBef>
                <a:spcPct val="0"/>
              </a:spcBef>
            </a:pPr>
            <a:r>
              <a:rPr lang="en-US" sz="12761" spc="-10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Her</a:t>
            </a:r>
            <a:r>
              <a:rPr lang="en-US" sz="12761" spc="-10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ding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8295" y="2115829"/>
            <a:ext cx="6364207" cy="444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6"/>
              </a:lnSpc>
            </a:pPr>
            <a:r>
              <a:rPr lang="en-US" sz="12761" spc="-10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Elephant  </a:t>
            </a:r>
          </a:p>
          <a:p>
            <a:pPr algn="l">
              <a:lnSpc>
                <a:spcPts val="17866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997456" y="4854100"/>
            <a:ext cx="8639746" cy="21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6"/>
              </a:lnSpc>
              <a:spcBef>
                <a:spcPct val="0"/>
              </a:spcBef>
            </a:pPr>
            <a:r>
              <a:rPr lang="en-US" sz="12761" spc="-10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Optimization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06870" y="7073103"/>
            <a:ext cx="2425437" cy="116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99" spc="-11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Planning &amp; Optimization Techniques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038225"/>
            <a:ext cx="1534737" cy="26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 spc="-7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Salford &amp; Co.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18814" y="8966200"/>
            <a:ext cx="2192710" cy="2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 spc="-8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Youssef El-baroudy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26013" y="8966200"/>
            <a:ext cx="2823193" cy="2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000" spc="-8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DR / Mahmoud Abd-elaal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27183" y="3011436"/>
            <a:ext cx="1107107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9600" spc="-768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Team Members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398257" y="1763481"/>
            <a:ext cx="1239406" cy="12394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912613" y="7189166"/>
            <a:ext cx="645141" cy="64514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557419" y="4452103"/>
            <a:ext cx="6563320" cy="319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</a:t>
            </a:r>
            <a:r>
              <a:rPr lang="en-US" sz="26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ohammed Emad Mohammed Elsafty </a:t>
            </a:r>
          </a:p>
          <a:p>
            <a:pPr algn="just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Mohamed Magdy Abdel-Qader Mabrouk</a:t>
            </a:r>
          </a:p>
          <a:p>
            <a:pPr algn="just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Giovanni Aaron Rawi Shafik</a:t>
            </a:r>
          </a:p>
          <a:p>
            <a:pPr algn="just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Nesma Hesham Fathy</a:t>
            </a:r>
          </a:p>
          <a:p>
            <a:pPr algn="just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Malak Ahmed Samih</a:t>
            </a:r>
          </a:p>
          <a:p>
            <a:pPr algn="just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Menna Haitham Salah Zaki</a:t>
            </a:r>
          </a:p>
          <a:p>
            <a:pPr algn="just">
              <a:lnSpc>
                <a:spcPts val="36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0351" y="1580532"/>
            <a:ext cx="10434918" cy="194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8"/>
              </a:lnSpc>
            </a:pPr>
            <a:r>
              <a:rPr lang="en-US" sz="9048" spc="-7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Introduction</a:t>
            </a:r>
          </a:p>
          <a:p>
            <a:pPr algn="ctr">
              <a:lnSpc>
                <a:spcPts val="7238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4398257" y="1763481"/>
            <a:ext cx="1239406" cy="12394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12613" y="3274984"/>
            <a:ext cx="11497609" cy="514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2"/>
              </a:lnSpc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Optimization problems appear in many real-world applications such as engineering design, machine learning, scheduling, routing, and resource allocation.</a:t>
            </a:r>
          </a:p>
          <a:p>
            <a:pPr algn="just">
              <a:lnSpc>
                <a:spcPts val="2732"/>
              </a:lnSpc>
            </a:pPr>
          </a:p>
          <a:p>
            <a:pPr algn="just">
              <a:lnSpc>
                <a:spcPts val="2732"/>
              </a:lnSpc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The Elephant Herding Optimization (EHO) is a swarm intelligence-based metaheuristic optimization technique inspired by the social behaviour of elephant herds in nature.</a:t>
            </a:r>
          </a:p>
          <a:p>
            <a:pPr algn="just">
              <a:lnSpc>
                <a:spcPts val="2732"/>
              </a:lnSpc>
            </a:pPr>
          </a:p>
          <a:p>
            <a:pPr algn="just">
              <a:lnSpc>
                <a:spcPts val="2732"/>
              </a:lnSpc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In the wild, elephants live in groups called clans, led by a matriarch. The algorithm balances exploration and exploitation to solve complex, high-dimensional optimization problems.</a:t>
            </a:r>
          </a:p>
          <a:p>
            <a:pPr algn="just">
              <a:lnSpc>
                <a:spcPts val="2732"/>
              </a:lnSpc>
            </a:pPr>
          </a:p>
          <a:p>
            <a:pPr algn="just">
              <a:lnSpc>
                <a:spcPts val="2732"/>
              </a:lnSpc>
            </a:pPr>
          </a:p>
          <a:p>
            <a:pPr algn="just">
              <a:lnSpc>
                <a:spcPts val="2732"/>
              </a:lnSpc>
            </a:pPr>
          </a:p>
          <a:p>
            <a:pPr algn="l">
              <a:lnSpc>
                <a:spcPts val="2305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912613" y="7189166"/>
            <a:ext cx="645141" cy="64514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51234" y="790575"/>
            <a:ext cx="8965648" cy="218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6"/>
              </a:lnSpc>
              <a:spcBef>
                <a:spcPct val="0"/>
              </a:spcBef>
            </a:pPr>
            <a:r>
              <a:rPr lang="en-US" sz="12761" spc="-10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EHO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3773091"/>
            <a:ext cx="5523408" cy="552340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7579" r="0" b="-3757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640263" y="7405652"/>
            <a:ext cx="1239406" cy="12394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84215" y="1632511"/>
            <a:ext cx="702185" cy="70218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583721" y="2350380"/>
            <a:ext cx="7802678" cy="444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6"/>
              </a:lnSpc>
            </a:pPr>
            <a:r>
              <a:rPr lang="en-US" sz="12761" spc="-10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Definition</a:t>
            </a:r>
          </a:p>
          <a:p>
            <a:pPr algn="l">
              <a:lnSpc>
                <a:spcPts val="17866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-103535">
            <a:off x="8580732" y="4864019"/>
            <a:ext cx="5489798" cy="558961"/>
          </a:xfrm>
          <a:custGeom>
            <a:avLst/>
            <a:gdLst/>
            <a:ahLst/>
            <a:cxnLst/>
            <a:rect r="r" b="b" t="t" l="l"/>
            <a:pathLst>
              <a:path h="558961" w="5489798">
                <a:moveTo>
                  <a:pt x="0" y="0"/>
                </a:moveTo>
                <a:lnTo>
                  <a:pt x="5489798" y="0"/>
                </a:lnTo>
                <a:lnTo>
                  <a:pt x="5489798" y="558962"/>
                </a:lnTo>
                <a:lnTo>
                  <a:pt x="0" y="558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79669" y="5515036"/>
            <a:ext cx="8916224" cy="178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547" spc="-10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Elephant Herding Optimization (EHO) is a population-based metaheuristic optimization algorithm originally proposed by Wang, Deb, and Coelho in 2015.</a:t>
            </a:r>
          </a:p>
          <a:p>
            <a:pPr algn="l">
              <a:lnSpc>
                <a:spcPts val="2802"/>
              </a:lnSpc>
            </a:pPr>
          </a:p>
          <a:p>
            <a:pPr algn="l">
              <a:lnSpc>
                <a:spcPts val="280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879669" y="6955420"/>
            <a:ext cx="8506731" cy="13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It simulates the complex and highly organized social structure of elephant herds to find optimal or near-optimal solutions for challenging real-world problems.</a:t>
            </a: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879669" y="8487360"/>
            <a:ext cx="8506731" cy="137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EHO is particularly effective for high-dimensional, nonlinear, multimodal, and derivative-free optimization tasks where traditional methods struggle.</a:t>
            </a:r>
          </a:p>
          <a:p>
            <a:pPr algn="l">
              <a:lnSpc>
                <a:spcPts val="27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78443" y="613168"/>
            <a:ext cx="5580857" cy="5423521"/>
            <a:chOff x="0" y="0"/>
            <a:chExt cx="83637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6379" cy="812800"/>
            </a:xfrm>
            <a:custGeom>
              <a:avLst/>
              <a:gdLst/>
              <a:ahLst/>
              <a:cxnLst/>
              <a:rect r="r" b="b" t="t" l="l"/>
              <a:pathLst>
                <a:path h="812800" w="836379">
                  <a:moveTo>
                    <a:pt x="418190" y="0"/>
                  </a:moveTo>
                  <a:cubicBezTo>
                    <a:pt x="187230" y="0"/>
                    <a:pt x="0" y="181951"/>
                    <a:pt x="0" y="406400"/>
                  </a:cubicBezTo>
                  <a:cubicBezTo>
                    <a:pt x="0" y="630849"/>
                    <a:pt x="187230" y="812800"/>
                    <a:pt x="418190" y="812800"/>
                  </a:cubicBezTo>
                  <a:cubicBezTo>
                    <a:pt x="649149" y="812800"/>
                    <a:pt x="836379" y="630849"/>
                    <a:pt x="836379" y="406400"/>
                  </a:cubicBezTo>
                  <a:cubicBezTo>
                    <a:pt x="836379" y="181951"/>
                    <a:pt x="649149" y="0"/>
                    <a:pt x="418190" y="0"/>
                  </a:cubicBezTo>
                  <a:close/>
                </a:path>
              </a:pathLst>
            </a:custGeom>
            <a:blipFill>
              <a:blip r:embed="rId2"/>
              <a:stretch>
                <a:fillRect l="-26643" t="0" r="-1939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216956">
            <a:off x="1046216" y="3319744"/>
            <a:ext cx="7164786" cy="781613"/>
          </a:xfrm>
          <a:custGeom>
            <a:avLst/>
            <a:gdLst/>
            <a:ahLst/>
            <a:cxnLst/>
            <a:rect r="r" b="b" t="t" l="l"/>
            <a:pathLst>
              <a:path h="781613" w="7164786">
                <a:moveTo>
                  <a:pt x="0" y="0"/>
                </a:moveTo>
                <a:lnTo>
                  <a:pt x="7164786" y="0"/>
                </a:lnTo>
                <a:lnTo>
                  <a:pt x="7164786" y="781613"/>
                </a:lnTo>
                <a:lnTo>
                  <a:pt x="0" y="781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66047"/>
            <a:ext cx="7421138" cy="458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Natural Behavior </a:t>
            </a:r>
          </a:p>
          <a:p>
            <a:pPr algn="l">
              <a:lnSpc>
                <a:spcPts val="1161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79264" y="4401533"/>
            <a:ext cx="15245300" cy="422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1"/>
              </a:lnSpc>
            </a:pPr>
            <a:r>
              <a:rPr lang="en-US" sz="3015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Elephants live in a highly organized matriarchal society:</a:t>
            </a:r>
          </a:p>
          <a:p>
            <a:pPr algn="l">
              <a:lnSpc>
                <a:spcPts val="3521"/>
              </a:lnSpc>
            </a:pPr>
          </a:p>
          <a:p>
            <a:pPr algn="l" marL="543090" indent="-271545" lvl="1">
              <a:lnSpc>
                <a:spcPts val="3521"/>
              </a:lnSpc>
              <a:buFont typeface="Arial"/>
              <a:buChar char="•"/>
            </a:pPr>
            <a:r>
              <a:rPr lang="en-US" sz="2515" spc="77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Elephants form small family groups called clans.</a:t>
            </a:r>
          </a:p>
          <a:p>
            <a:pPr algn="l" marL="543090" indent="-271545" lvl="1">
              <a:lnSpc>
                <a:spcPts val="3521"/>
              </a:lnSpc>
              <a:buFont typeface="Arial"/>
              <a:buChar char="•"/>
            </a:pPr>
            <a:r>
              <a:rPr lang="en-US" sz="2515" spc="77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Each clan is led by the oldest and most experienced female → the matriarch.</a:t>
            </a:r>
          </a:p>
          <a:p>
            <a:pPr algn="l" marL="543090" indent="-271545" lvl="1">
              <a:lnSpc>
                <a:spcPts val="3521"/>
              </a:lnSpc>
              <a:buFont typeface="Arial"/>
              <a:buChar char="•"/>
            </a:pPr>
            <a:r>
              <a:rPr lang="en-US" sz="2515" spc="77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Clan members follow the matriarch closely to ensure group protection and efficient foraging (exploitation).</a:t>
            </a:r>
          </a:p>
          <a:p>
            <a:pPr algn="l" marL="543090" indent="-271545" lvl="1">
              <a:lnSpc>
                <a:spcPts val="3521"/>
              </a:lnSpc>
              <a:buFont typeface="Arial"/>
              <a:buChar char="•"/>
            </a:pPr>
            <a:r>
              <a:rPr lang="en-US" sz="2515" spc="77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The matriarch moves toward the clan center to maintain unity and balance.</a:t>
            </a:r>
          </a:p>
          <a:p>
            <a:pPr algn="l">
              <a:lnSpc>
                <a:spcPts val="2767"/>
              </a:lnSpc>
            </a:pPr>
          </a:p>
          <a:p>
            <a:pPr algn="l">
              <a:lnSpc>
                <a:spcPts val="2767"/>
              </a:lnSpc>
            </a:pPr>
          </a:p>
          <a:p>
            <a:pPr algn="l">
              <a:lnSpc>
                <a:spcPts val="276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79264" y="7897495"/>
            <a:ext cx="3812719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Separating behavior: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08310"/>
            <a:ext cx="14695863" cy="784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4"/>
              </a:lnSpc>
            </a:pPr>
            <a:r>
              <a:rPr lang="en-US" sz="2515" spc="-15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When y</a:t>
            </a:r>
            <a:r>
              <a:rPr lang="en-US" sz="2515" spc="-15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oung males reach maturity, they leave the clan .. this prevents inbreeding and introduces diversity (exploration).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49016" y="1371523"/>
            <a:ext cx="6462759" cy="165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Key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27061" y="2918767"/>
            <a:ext cx="6426885" cy="642688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479" t="-96915" r="-30537" b="-9146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09679" y="3897891"/>
            <a:ext cx="1239406" cy="123940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24578" y="8799564"/>
            <a:ext cx="458736" cy="4587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878614" y="8489586"/>
            <a:ext cx="1078692" cy="107869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285970">
            <a:off x="9901603" y="3301823"/>
            <a:ext cx="6753623" cy="1350725"/>
          </a:xfrm>
          <a:custGeom>
            <a:avLst/>
            <a:gdLst/>
            <a:ahLst/>
            <a:cxnLst/>
            <a:rect r="r" b="b" t="t" l="l"/>
            <a:pathLst>
              <a:path h="1350725" w="6753623">
                <a:moveTo>
                  <a:pt x="0" y="0"/>
                </a:moveTo>
                <a:lnTo>
                  <a:pt x="6753623" y="0"/>
                </a:lnTo>
                <a:lnTo>
                  <a:pt x="6753623" y="1350725"/>
                </a:lnTo>
                <a:lnTo>
                  <a:pt x="0" y="135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66593" y="2865536"/>
            <a:ext cx="8692707" cy="311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Parameters</a:t>
            </a:r>
          </a:p>
          <a:p>
            <a:pPr algn="r">
              <a:lnSpc>
                <a:spcPts val="1161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33347" y="5405909"/>
            <a:ext cx="2679600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Population size (N)</a:t>
            </a:r>
          </a:p>
          <a:p>
            <a:pPr algn="l">
              <a:lnSpc>
                <a:spcPts val="2750"/>
              </a:lnSpc>
            </a:pP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842101" y="4797572"/>
            <a:ext cx="2679600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Number of clans</a:t>
            </a: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33347" y="7481108"/>
            <a:ext cx="2679600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α (alpha ∈ [0,1])</a:t>
            </a: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654862" y="8020454"/>
            <a:ext cx="2679600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β (beta ∈ [0,1])</a:t>
            </a: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579502" y="6107584"/>
            <a:ext cx="3120162" cy="10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Search space bounds: </a:t>
            </a:r>
          </a:p>
          <a:p>
            <a:pPr algn="l">
              <a:lnSpc>
                <a:spcPts val="2750"/>
              </a:lnSpc>
            </a:pPr>
            <a:r>
              <a:rPr lang="en-US" sz="2500" spc="-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[El_min, El_max]</a:t>
            </a:r>
          </a:p>
          <a:p>
            <a:pPr algn="l">
              <a:lnSpc>
                <a:spcPts val="275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165648" y="9047982"/>
            <a:ext cx="3112766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500" spc="-1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Random numbers: R ∈ [0,1] and rand(0,1) for diversity</a:t>
            </a:r>
          </a:p>
          <a:p>
            <a:pPr algn="l">
              <a:lnSpc>
                <a:spcPts val="275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7462">
            <a:off x="11094453" y="3237245"/>
            <a:ext cx="5896076" cy="707529"/>
          </a:xfrm>
          <a:custGeom>
            <a:avLst/>
            <a:gdLst/>
            <a:ahLst/>
            <a:cxnLst/>
            <a:rect r="r" b="b" t="t" l="l"/>
            <a:pathLst>
              <a:path h="707529" w="5896076">
                <a:moveTo>
                  <a:pt x="0" y="0"/>
                </a:moveTo>
                <a:lnTo>
                  <a:pt x="5896076" y="0"/>
                </a:lnTo>
                <a:lnTo>
                  <a:pt x="5896076" y="707529"/>
                </a:lnTo>
                <a:lnTo>
                  <a:pt x="0" y="707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60448" y="1724841"/>
            <a:ext cx="458736" cy="458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96068" y="1724841"/>
            <a:ext cx="458736" cy="4587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664112" y="7394399"/>
            <a:ext cx="8579598" cy="1008993"/>
          </a:xfrm>
          <a:custGeom>
            <a:avLst/>
            <a:gdLst/>
            <a:ahLst/>
            <a:cxnLst/>
            <a:rect r="r" b="b" t="t" l="l"/>
            <a:pathLst>
              <a:path h="1008993" w="8579598">
                <a:moveTo>
                  <a:pt x="0" y="0"/>
                </a:moveTo>
                <a:lnTo>
                  <a:pt x="8579598" y="0"/>
                </a:lnTo>
                <a:lnTo>
                  <a:pt x="8579598" y="1008993"/>
                </a:lnTo>
                <a:lnTo>
                  <a:pt x="0" y="1008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99" r="0" b="-59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08402" y="5740875"/>
            <a:ext cx="5888920" cy="853424"/>
          </a:xfrm>
          <a:custGeom>
            <a:avLst/>
            <a:gdLst/>
            <a:ahLst/>
            <a:cxnLst/>
            <a:rect r="r" b="b" t="t" l="l"/>
            <a:pathLst>
              <a:path h="853424" w="5888920">
                <a:moveTo>
                  <a:pt x="0" y="0"/>
                </a:moveTo>
                <a:lnTo>
                  <a:pt x="5888920" y="0"/>
                </a:lnTo>
                <a:lnTo>
                  <a:pt x="5888920" y="853424"/>
                </a:lnTo>
                <a:lnTo>
                  <a:pt x="0" y="8534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47" t="-16793" r="-5652" b="-1635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717608" y="2277291"/>
            <a:ext cx="8485680" cy="311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 Steps (1/3)</a:t>
            </a:r>
          </a:p>
          <a:p>
            <a:pPr algn="l">
              <a:lnSpc>
                <a:spcPts val="1161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361751" y="748320"/>
            <a:ext cx="10449586" cy="165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Algorithm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43704" y="4169948"/>
            <a:ext cx="4242840" cy="76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6"/>
              </a:lnSpc>
            </a:pPr>
            <a:r>
              <a:rPr lang="en-US" sz="3015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1. Solution Representation</a:t>
            </a:r>
          </a:p>
          <a:p>
            <a:pPr algn="l">
              <a:lnSpc>
                <a:spcPts val="276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708402" y="4883145"/>
            <a:ext cx="8491018" cy="104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Each elephant is a candidate solution in D-dimensional space: </a:t>
            </a:r>
          </a:p>
          <a:p>
            <a:pPr algn="l">
              <a:lnSpc>
                <a:spcPts val="276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343704" y="6863522"/>
            <a:ext cx="4242840" cy="118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6"/>
              </a:lnSpc>
            </a:pPr>
            <a:r>
              <a:rPr lang="en-US" sz="3015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2. Initialization</a:t>
            </a:r>
          </a:p>
          <a:p>
            <a:pPr algn="l">
              <a:lnSpc>
                <a:spcPts val="3316"/>
              </a:lnSpc>
            </a:pPr>
          </a:p>
          <a:p>
            <a:pPr algn="l">
              <a:lnSpc>
                <a:spcPts val="276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8670092"/>
            <a:ext cx="4242840" cy="76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6"/>
              </a:lnSpc>
            </a:pPr>
            <a:r>
              <a:rPr lang="en-US" sz="3015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3. Fitness Evaluation</a:t>
            </a:r>
          </a:p>
          <a:p>
            <a:pPr algn="l">
              <a:lnSpc>
                <a:spcPts val="276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708402" y="9277350"/>
            <a:ext cx="8579598" cy="69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Compute </a:t>
            </a: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f</a:t>
            </a: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(</a:t>
            </a: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</a:t>
            </a: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l</a:t>
            </a: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i</a:t>
            </a: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​) for each elephant (minimize or maximize depending on the problem).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39286" y="1298124"/>
            <a:ext cx="7022465" cy="702246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7555" t="-104616" r="-12752" b="-952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222061" y="5255177"/>
            <a:ext cx="1339122" cy="133912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7462">
            <a:off x="11094453" y="3237245"/>
            <a:ext cx="5896076" cy="707529"/>
          </a:xfrm>
          <a:custGeom>
            <a:avLst/>
            <a:gdLst/>
            <a:ahLst/>
            <a:cxnLst/>
            <a:rect r="r" b="b" t="t" l="l"/>
            <a:pathLst>
              <a:path h="707529" w="5896076">
                <a:moveTo>
                  <a:pt x="0" y="0"/>
                </a:moveTo>
                <a:lnTo>
                  <a:pt x="5896076" y="0"/>
                </a:lnTo>
                <a:lnTo>
                  <a:pt x="5896076" y="707529"/>
                </a:lnTo>
                <a:lnTo>
                  <a:pt x="0" y="707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60448" y="1724841"/>
            <a:ext cx="458736" cy="458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96068" y="1724841"/>
            <a:ext cx="458736" cy="4587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060731" y="2506659"/>
            <a:ext cx="8485680" cy="311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 Steps (2/3)</a:t>
            </a:r>
          </a:p>
          <a:p>
            <a:pPr algn="l">
              <a:lnSpc>
                <a:spcPts val="1161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561183" y="4126037"/>
            <a:ext cx="8285155" cy="101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3415" spc="-136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Clan Updating Operator (Exploitation)</a:t>
            </a:r>
          </a:p>
          <a:p>
            <a:pPr algn="l">
              <a:lnSpc>
                <a:spcPts val="419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064549" y="4803678"/>
            <a:ext cx="8491018" cy="69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Updating normal elephants:</a:t>
            </a:r>
          </a:p>
          <a:p>
            <a:pPr algn="l">
              <a:lnSpc>
                <a:spcPts val="2766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202792" y="5259705"/>
            <a:ext cx="8214532" cy="962340"/>
          </a:xfrm>
          <a:custGeom>
            <a:avLst/>
            <a:gdLst/>
            <a:ahLst/>
            <a:cxnLst/>
            <a:rect r="r" b="b" t="t" l="l"/>
            <a:pathLst>
              <a:path h="962340" w="8214532">
                <a:moveTo>
                  <a:pt x="0" y="0"/>
                </a:moveTo>
                <a:lnTo>
                  <a:pt x="8214532" y="0"/>
                </a:lnTo>
                <a:lnTo>
                  <a:pt x="8214532" y="962340"/>
                </a:lnTo>
                <a:lnTo>
                  <a:pt x="0" y="962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089" r="0" b="-2659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202792" y="9006714"/>
            <a:ext cx="5276724" cy="918773"/>
          </a:xfrm>
          <a:custGeom>
            <a:avLst/>
            <a:gdLst/>
            <a:ahLst/>
            <a:cxnLst/>
            <a:rect r="r" b="b" t="t" l="l"/>
            <a:pathLst>
              <a:path h="918773" w="5276724">
                <a:moveTo>
                  <a:pt x="0" y="0"/>
                </a:moveTo>
                <a:lnTo>
                  <a:pt x="5276724" y="0"/>
                </a:lnTo>
                <a:lnTo>
                  <a:pt x="5276724" y="918773"/>
                </a:lnTo>
                <a:lnTo>
                  <a:pt x="0" y="918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9548" r="0" b="-5077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361751" y="748320"/>
            <a:ext cx="10449586" cy="165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Algorithm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02792" y="6446522"/>
            <a:ext cx="8491018" cy="2248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2015" spc="4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Where:</a:t>
            </a:r>
          </a:p>
          <a:p>
            <a:pPr algn="just" marL="435091" indent="-217545" lvl="1">
              <a:lnSpc>
                <a:spcPts val="2579"/>
              </a:lnSpc>
              <a:buFont typeface="Arial"/>
              <a:buChar char="•"/>
            </a:pPr>
            <a:r>
              <a:rPr lang="en-US" sz="2015" spc="6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( </a:t>
            </a:r>
            <a:r>
              <a:rPr lang="en-US" sz="2015" spc="6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El_{old} )  : current position</a:t>
            </a:r>
          </a:p>
          <a:p>
            <a:pPr algn="just" marL="435091" indent="-217545" lvl="1">
              <a:lnSpc>
                <a:spcPts val="2579"/>
              </a:lnSpc>
              <a:buFont typeface="Arial"/>
              <a:buChar char="•"/>
            </a:pPr>
            <a:r>
              <a:rPr lang="en-US" sz="2015" spc="6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( El_{new} ): updated position</a:t>
            </a:r>
          </a:p>
          <a:p>
            <a:pPr algn="just" marL="435091" indent="-217545" lvl="1">
              <a:lnSpc>
                <a:spcPts val="2579"/>
              </a:lnSpc>
              <a:buFont typeface="Arial"/>
              <a:buChar char="•"/>
            </a:pPr>
            <a:r>
              <a:rPr lang="en-US" sz="2015" spc="6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( El_{best} ): matriarch (best elephant in the clan)</a:t>
            </a:r>
          </a:p>
          <a:p>
            <a:pPr algn="just" marL="435091" indent="-217545" lvl="1">
              <a:lnSpc>
                <a:spcPts val="2579"/>
              </a:lnSpc>
              <a:buFont typeface="Arial"/>
              <a:buChar char="•"/>
            </a:pPr>
            <a:r>
              <a:rPr lang="en-US" sz="2015" spc="6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( α in [0,1] ): scaling factor controlling influence</a:t>
            </a:r>
          </a:p>
          <a:p>
            <a:pPr algn="just" marL="435091" indent="-217545" lvl="1">
              <a:lnSpc>
                <a:spcPts val="2579"/>
              </a:lnSpc>
              <a:buFont typeface="Arial"/>
              <a:buChar char="•"/>
            </a:pPr>
            <a:r>
              <a:rPr lang="en-US" sz="2015" spc="6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( R in [0,1] ): random number to increase diversity</a:t>
            </a:r>
          </a:p>
          <a:p>
            <a:pPr algn="l">
              <a:lnSpc>
                <a:spcPts val="276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926306" y="8622345"/>
            <a:ext cx="8491018" cy="35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2515" spc="5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Matriarch Updating Operator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39286" y="1298124"/>
            <a:ext cx="7022465" cy="70224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7555" t="-104616" r="-12752" b="-952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222061" y="5255177"/>
            <a:ext cx="1339122" cy="133912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9286" y="1298124"/>
            <a:ext cx="7022465" cy="70224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7555" t="-104616" r="-12752" b="-95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287462">
            <a:off x="11094453" y="3237245"/>
            <a:ext cx="5896076" cy="707529"/>
          </a:xfrm>
          <a:custGeom>
            <a:avLst/>
            <a:gdLst/>
            <a:ahLst/>
            <a:cxnLst/>
            <a:rect r="r" b="b" t="t" l="l"/>
            <a:pathLst>
              <a:path h="707529" w="5896076">
                <a:moveTo>
                  <a:pt x="0" y="0"/>
                </a:moveTo>
                <a:lnTo>
                  <a:pt x="5896076" y="0"/>
                </a:lnTo>
                <a:lnTo>
                  <a:pt x="5896076" y="707529"/>
                </a:lnTo>
                <a:lnTo>
                  <a:pt x="0" y="707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222061" y="5255177"/>
            <a:ext cx="1339122" cy="133912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60448" y="1724841"/>
            <a:ext cx="458736" cy="45873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96068" y="1724841"/>
            <a:ext cx="458736" cy="45873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349620" y="4934835"/>
            <a:ext cx="6353080" cy="1381465"/>
          </a:xfrm>
          <a:custGeom>
            <a:avLst/>
            <a:gdLst/>
            <a:ahLst/>
            <a:cxnLst/>
            <a:rect r="r" b="b" t="t" l="l"/>
            <a:pathLst>
              <a:path h="1381465" w="6353080">
                <a:moveTo>
                  <a:pt x="0" y="0"/>
                </a:moveTo>
                <a:lnTo>
                  <a:pt x="6353080" y="0"/>
                </a:lnTo>
                <a:lnTo>
                  <a:pt x="6353080" y="1381464"/>
                </a:lnTo>
                <a:lnTo>
                  <a:pt x="0" y="1381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35" t="-23031" r="-6460" b="-1334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49620" y="7511627"/>
            <a:ext cx="7224249" cy="1476162"/>
          </a:xfrm>
          <a:custGeom>
            <a:avLst/>
            <a:gdLst/>
            <a:ahLst/>
            <a:cxnLst/>
            <a:rect r="r" b="b" t="t" l="l"/>
            <a:pathLst>
              <a:path h="1476162" w="7224249">
                <a:moveTo>
                  <a:pt x="0" y="0"/>
                </a:moveTo>
                <a:lnTo>
                  <a:pt x="7224249" y="0"/>
                </a:lnTo>
                <a:lnTo>
                  <a:pt x="7224249" y="1476163"/>
                </a:lnTo>
                <a:lnTo>
                  <a:pt x="0" y="1476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111260" y="2506659"/>
            <a:ext cx="8485680" cy="311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 Steps (3/3)</a:t>
            </a:r>
          </a:p>
          <a:p>
            <a:pPr algn="l">
              <a:lnSpc>
                <a:spcPts val="1161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361751" y="748320"/>
            <a:ext cx="10449586" cy="165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Algorithm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65361" y="4299439"/>
            <a:ext cx="4419691" cy="42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6"/>
              </a:lnSpc>
            </a:pPr>
            <a:r>
              <a:rPr lang="en-US" sz="3015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Clan Center Calculation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65361" y="6622874"/>
            <a:ext cx="6095087" cy="126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6"/>
              </a:lnSpc>
            </a:pPr>
            <a:r>
              <a:rPr lang="en-US" sz="3015" spc="-12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Separating Operator (Exploration)</a:t>
            </a:r>
          </a:p>
          <a:p>
            <a:pPr algn="l">
              <a:lnSpc>
                <a:spcPts val="3316"/>
              </a:lnSpc>
            </a:pPr>
          </a:p>
          <a:p>
            <a:pPr algn="l">
              <a:lnSpc>
                <a:spcPts val="331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7188" y="752475"/>
            <a:ext cx="14768366" cy="491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58"/>
              </a:lnSpc>
            </a:pPr>
            <a:r>
              <a:rPr lang="en-US" sz="14041" spc="-1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Pseudocode</a:t>
            </a:r>
          </a:p>
          <a:p>
            <a:pPr algn="ctr">
              <a:lnSpc>
                <a:spcPts val="19658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186557">
            <a:off x="6753333" y="2677832"/>
            <a:ext cx="5896076" cy="707529"/>
          </a:xfrm>
          <a:custGeom>
            <a:avLst/>
            <a:gdLst/>
            <a:ahLst/>
            <a:cxnLst/>
            <a:rect r="r" b="b" t="t" l="l"/>
            <a:pathLst>
              <a:path h="707529" w="5896076">
                <a:moveTo>
                  <a:pt x="0" y="0"/>
                </a:moveTo>
                <a:lnTo>
                  <a:pt x="5896076" y="0"/>
                </a:lnTo>
                <a:lnTo>
                  <a:pt x="5896076" y="707529"/>
                </a:lnTo>
                <a:lnTo>
                  <a:pt x="0" y="707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70298" y="3544744"/>
            <a:ext cx="458736" cy="45873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478069"/>
            <a:ext cx="13187996" cy="639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299" spc="142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Algorithm: Elephant Herding Optimization (EHO)</a:t>
            </a:r>
          </a:p>
          <a:p>
            <a:pPr algn="l">
              <a:lnSpc>
                <a:spcPts val="2128"/>
              </a:lnSpc>
            </a:pP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Begin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Initialize population P randomly within [x_min, x_max]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Set MaxGen, α, β, number of clans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 T = 1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While T ≤ MaxGen do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Evaluate fitness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 Sort population 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Divide into clans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For each clan: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Update non-matriarch elephants using Eq. (1) 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Update matriarch using Eq. (2) via Eq. (3) 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Replace worst elephant in each clan using Eq. (4) 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T=T + 1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End while</a:t>
            </a:r>
          </a:p>
          <a:p>
            <a:pPr algn="l" marL="431797" indent="-215899" lvl="1">
              <a:lnSpc>
                <a:spcPts val="3039"/>
              </a:lnSpc>
              <a:buAutoNum type="arabicPeriod" startAt="1"/>
            </a:pPr>
            <a:r>
              <a:rPr lang="en-US" sz="1999" spc="1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Return best solution End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629069" y="-185470"/>
            <a:ext cx="0" cy="10657941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404463" y="517761"/>
            <a:ext cx="458736" cy="458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04463" y="1685930"/>
            <a:ext cx="458736" cy="4587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04463" y="2986205"/>
            <a:ext cx="458736" cy="45873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04463" y="4173538"/>
            <a:ext cx="458736" cy="45873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04463" y="5584464"/>
            <a:ext cx="458736" cy="45873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25627" y="234462"/>
            <a:ext cx="4397812" cy="439781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805192" y="2258234"/>
            <a:ext cx="1078692" cy="107869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3403601"/>
            <a:ext cx="7013248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spc="-64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How It Works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08036" y="5509526"/>
            <a:ext cx="10794312" cy="4042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7"/>
              </a:lnSpc>
            </a:pPr>
            <a:r>
              <a:rPr lang="en-US" sz="12821" spc="-1025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Step-by-Step Implementation</a:t>
            </a:r>
          </a:p>
          <a:p>
            <a:pPr algn="l">
              <a:lnSpc>
                <a:spcPts val="10257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-247546">
            <a:off x="4820745" y="8003993"/>
            <a:ext cx="3648051" cy="729610"/>
          </a:xfrm>
          <a:custGeom>
            <a:avLst/>
            <a:gdLst/>
            <a:ahLst/>
            <a:cxnLst/>
            <a:rect r="r" b="b" t="t" l="l"/>
            <a:pathLst>
              <a:path h="729610" w="3648051">
                <a:moveTo>
                  <a:pt x="0" y="0"/>
                </a:moveTo>
                <a:lnTo>
                  <a:pt x="3648050" y="0"/>
                </a:lnTo>
                <a:lnTo>
                  <a:pt x="3648050" y="729610"/>
                </a:lnTo>
                <a:lnTo>
                  <a:pt x="0" y="729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469290" y="445637"/>
            <a:ext cx="5818710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spc="-10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Initialization (parameters + random population)</a:t>
            </a:r>
          </a:p>
          <a:p>
            <a:pPr algn="l">
              <a:lnSpc>
                <a:spcPts val="286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277537" y="1834515"/>
            <a:ext cx="5302309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spc="-10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Fitness evaluation &amp; sorting</a:t>
            </a:r>
          </a:p>
          <a:p>
            <a:pPr algn="l">
              <a:lnSpc>
                <a:spcPts val="286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213598" y="3090811"/>
            <a:ext cx="6330095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spc="-10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Divide into clans + identify matriarchs</a:t>
            </a:r>
          </a:p>
          <a:p>
            <a:pPr algn="l">
              <a:lnSpc>
                <a:spcPts val="286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277537" y="4285881"/>
            <a:ext cx="3476347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spc="-10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Clan Updating</a:t>
            </a:r>
          </a:p>
          <a:p>
            <a:pPr algn="l">
              <a:lnSpc>
                <a:spcPts val="286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277537" y="5613039"/>
            <a:ext cx="3588148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spc="-10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Separating Operator</a:t>
            </a:r>
          </a:p>
          <a:p>
            <a:pPr algn="l">
              <a:lnSpc>
                <a:spcPts val="2860"/>
              </a:lnSpc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11399701" y="6824250"/>
            <a:ext cx="458736" cy="45873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399701" y="8022799"/>
            <a:ext cx="458736" cy="45873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404463" y="9258300"/>
            <a:ext cx="458736" cy="45873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277537" y="9286875"/>
            <a:ext cx="4901811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spc="-10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Return the global best solution</a:t>
            </a:r>
          </a:p>
          <a:p>
            <a:pPr algn="l">
              <a:lnSpc>
                <a:spcPts val="2860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2213598" y="8051374"/>
            <a:ext cx="5548501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spc="-10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Repeat until MaxGen or convergence</a:t>
            </a:r>
          </a:p>
          <a:p>
            <a:pPr algn="l">
              <a:lnSpc>
                <a:spcPts val="286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2213598" y="6852825"/>
            <a:ext cx="5700901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 spc="-10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Update population &amp; recalculate fitness</a:t>
            </a:r>
          </a:p>
          <a:p>
            <a:pPr algn="l">
              <a:lnSpc>
                <a:spcPts val="286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0351" y="1580532"/>
            <a:ext cx="10434918" cy="194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8"/>
              </a:lnSpc>
            </a:pPr>
            <a:r>
              <a:rPr lang="en-US" sz="9048" spc="-723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Conclusion</a:t>
            </a:r>
          </a:p>
          <a:p>
            <a:pPr algn="ctr">
              <a:lnSpc>
                <a:spcPts val="7238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4449612" y="1237632"/>
            <a:ext cx="1239406" cy="12394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70275" y="2650026"/>
            <a:ext cx="14065382" cy="639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5"/>
              </a:lnSpc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Elephant Herding Optimization (EHO) is a powerful, simple, and effective metaheuristic algorithm.</a:t>
            </a:r>
          </a:p>
          <a:p>
            <a:pPr algn="just">
              <a:lnSpc>
                <a:spcPts val="3615"/>
              </a:lnSpc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It successfully balances exploration (separating operator) and exploitation</a:t>
            </a: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 (clan updating operator).</a:t>
            </a:r>
          </a:p>
          <a:p>
            <a:pPr algn="just">
              <a:lnSpc>
                <a:spcPts val="3615"/>
              </a:lnSpc>
            </a:pPr>
          </a:p>
          <a:p>
            <a:pPr algn="just">
              <a:lnSpc>
                <a:spcPts val="3615"/>
              </a:lnSpc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Advantages: </a:t>
            </a:r>
          </a:p>
          <a:p>
            <a:pPr algn="l" marL="614575" indent="-307288" lvl="1">
              <a:lnSpc>
                <a:spcPts val="3615"/>
              </a:lnSpc>
              <a:buFont typeface="Arial"/>
              <a:buChar char="•"/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Few control parameters </a:t>
            </a:r>
          </a:p>
          <a:p>
            <a:pPr algn="l" marL="614575" indent="-307288" lvl="1">
              <a:lnSpc>
                <a:spcPts val="3615"/>
              </a:lnSpc>
              <a:buFont typeface="Arial"/>
              <a:buChar char="•"/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 Strong global search capability </a:t>
            </a:r>
          </a:p>
          <a:p>
            <a:pPr algn="l" marL="614575" indent="-307288" lvl="1">
              <a:lnSpc>
                <a:spcPts val="3615"/>
              </a:lnSpc>
              <a:buFont typeface="Arial"/>
              <a:buChar char="•"/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 Good convergence speed </a:t>
            </a:r>
          </a:p>
          <a:p>
            <a:pPr algn="l" marL="614575" indent="-307288" lvl="1">
              <a:lnSpc>
                <a:spcPts val="3615"/>
              </a:lnSpc>
              <a:buFont typeface="Arial"/>
              <a:buChar char="•"/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Competitive with GA, PSO, and ACO</a:t>
            </a:r>
          </a:p>
          <a:p>
            <a:pPr algn="l">
              <a:lnSpc>
                <a:spcPts val="3615"/>
              </a:lnSpc>
            </a:pPr>
          </a:p>
          <a:p>
            <a:pPr algn="just">
              <a:lnSpc>
                <a:spcPts val="3615"/>
              </a:lnSpc>
            </a:pPr>
            <a:r>
              <a:rPr lang="en-US" sz="2846" spc="14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EHO is suitable for engineering, machine learning, scheduling, routing, and many other complex optimization problems.</a:t>
            </a:r>
          </a:p>
          <a:p>
            <a:pPr algn="l">
              <a:lnSpc>
                <a:spcPts val="3615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479262" y="7945298"/>
            <a:ext cx="1648403" cy="164840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9978">
            <a:off x="11461272" y="2190578"/>
            <a:ext cx="5149473" cy="2059789"/>
          </a:xfrm>
          <a:custGeom>
            <a:avLst/>
            <a:gdLst/>
            <a:ahLst/>
            <a:cxnLst/>
            <a:rect r="r" b="b" t="t" l="l"/>
            <a:pathLst>
              <a:path h="2059789" w="5149473">
                <a:moveTo>
                  <a:pt x="0" y="0"/>
                </a:moveTo>
                <a:lnTo>
                  <a:pt x="5149473" y="0"/>
                </a:lnTo>
                <a:lnTo>
                  <a:pt x="5149473" y="2059789"/>
                </a:lnTo>
                <a:lnTo>
                  <a:pt x="0" y="2059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8194" y="4747762"/>
            <a:ext cx="15176825" cy="165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6"/>
              </a:lnSpc>
            </a:pPr>
            <a:r>
              <a:rPr lang="en-US" sz="14520" spc="-1161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Thank  you 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34245" y="3476946"/>
            <a:ext cx="458736" cy="45873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65651" y="7845658"/>
            <a:ext cx="458736" cy="45873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5C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DAHGrPtosrQ</dc:identifier>
  <dcterms:modified xsi:type="dcterms:W3CDTF">2011-08-01T06:04:30Z</dcterms:modified>
  <cp:revision>1</cp:revision>
  <dc:title>Mint and Black Modern Pomodoro Technique Presentation</dc:title>
</cp:coreProperties>
</file>